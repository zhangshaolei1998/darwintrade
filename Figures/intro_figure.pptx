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911284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9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8"/>
        <p:guide pos="92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121470" y="1143000"/>
            <a:ext cx="13100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639492" y="1122363"/>
            <a:ext cx="2183695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39492" y="3602038"/>
            <a:ext cx="2183695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6556" y="1709738"/>
            <a:ext cx="251124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86556" y="4589463"/>
            <a:ext cx="2511249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001720" y="1825625"/>
            <a:ext cx="12374272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4739942" y="1825625"/>
            <a:ext cx="12374272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05513" y="365125"/>
            <a:ext cx="25112493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005513" y="1681163"/>
            <a:ext cx="1231740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005513" y="2505075"/>
            <a:ext cx="12317404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4739942" y="1681163"/>
            <a:ext cx="1237806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4739942" y="2505075"/>
            <a:ext cx="12378064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05513" y="457200"/>
            <a:ext cx="939064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78064" y="987425"/>
            <a:ext cx="1473994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05513" y="2057400"/>
            <a:ext cx="939064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05513" y="457200"/>
            <a:ext cx="939064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2378064" y="987425"/>
            <a:ext cx="147399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05513" y="2057400"/>
            <a:ext cx="939064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0836090" y="365125"/>
            <a:ext cx="6278123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001720" y="365125"/>
            <a:ext cx="18470421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001720" y="365125"/>
            <a:ext cx="251124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001720" y="1825625"/>
            <a:ext cx="251124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001720" y="6356350"/>
            <a:ext cx="6551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644653" y="6356350"/>
            <a:ext cx="98266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0563129" y="6356350"/>
            <a:ext cx="6551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image" Target="../media/image2.png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image" Target="../media/image6.png"/><Relationship Id="rId21" Type="http://schemas.openxmlformats.org/officeDocument/2006/relationships/tags" Target="../tags/tag16.xml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4.png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781158" y="657864"/>
            <a:ext cx="6104082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705">
                <a:latin typeface="Comic Sans MS" panose="030F0702030302020204" charset="0"/>
                <a:cs typeface="Comic Sans MS" panose="030F0702030302020204" charset="0"/>
              </a:rPr>
              <a:t>(a) Typical end-to-end trading agent</a:t>
            </a:r>
            <a:endParaRPr lang="en-US" altLang="zh-CN" sz="2705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3430708" y="657864"/>
            <a:ext cx="743172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705">
                <a:latin typeface="Comic Sans MS" panose="030F0702030302020204" charset="0"/>
                <a:cs typeface="Comic Sans MS" panose="030F0702030302020204" charset="0"/>
              </a:rPr>
              <a:t>(b) </a:t>
            </a:r>
            <a:r>
              <a:rPr lang="en-US" altLang="zh-CN" sz="2705" b="1">
                <a:solidFill>
                  <a:srgbClr val="FF0000"/>
                </a:solidFill>
                <a:latin typeface="Comic Sans MS" panose="030F0702030302020204" charset="0"/>
                <a:cs typeface="Comic Sans MS" panose="030F0702030302020204" charset="0"/>
              </a:rPr>
              <a:t>DarwinTrade</a:t>
            </a:r>
            <a:r>
              <a:rPr lang="en-US" altLang="zh-CN" sz="2705">
                <a:latin typeface="Comic Sans MS" panose="030F0702030302020204" charset="0"/>
                <a:cs typeface="Comic Sans MS" panose="030F0702030302020204" charset="0"/>
              </a:rPr>
              <a:t>: self-evolving trading agent</a:t>
            </a:r>
            <a:endParaRPr lang="en-US" altLang="zh-CN" sz="2705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 flipH="1">
            <a:off x="11416397" y="738435"/>
            <a:ext cx="12065" cy="5464175"/>
          </a:xfrm>
          <a:prstGeom prst="line">
            <a:avLst/>
          </a:prstGeom>
          <a:ln w="6667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ADC0E8">
                    <a:alpha val="100000"/>
                  </a:srgbClr>
                </a:gs>
                <a:gs pos="71000">
                  <a:srgbClr val="ADC0E8">
                    <a:alpha val="100000"/>
                  </a:srgbClr>
                </a:gs>
                <a:gs pos="71000">
                  <a:srgbClr val="ADC0E8">
                    <a:alpha val="100000"/>
                  </a:srgbClr>
                </a:gs>
                <a:gs pos="25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220000" scaled="0"/>
            </a:gradFill>
            <a:prstDash val="dashDot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38347" y="2744459"/>
            <a:ext cx="892722" cy="89272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181122" y="1352919"/>
            <a:ext cx="949948" cy="94994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38347" y="4078773"/>
            <a:ext cx="891768" cy="89176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165862" y="5226150"/>
            <a:ext cx="964254" cy="96425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017631" y="2701279"/>
            <a:ext cx="892722" cy="89272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960406" y="1309739"/>
            <a:ext cx="949948" cy="94994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2017631" y="4035593"/>
            <a:ext cx="891768" cy="89176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945145" y="5182970"/>
            <a:ext cx="964254" cy="964254"/>
          </a:xfrm>
          <a:prstGeom prst="rect">
            <a:avLst/>
          </a:prstGeom>
        </p:spPr>
      </p:pic>
      <p:sp>
        <p:nvSpPr>
          <p:cNvPr id="21" name="右大括号 20"/>
          <p:cNvSpPr/>
          <p:nvPr>
            <p:custDataLst>
              <p:tags r:id="rId16"/>
            </p:custDataLst>
          </p:nvPr>
        </p:nvSpPr>
        <p:spPr>
          <a:xfrm>
            <a:off x="5238962" y="1832576"/>
            <a:ext cx="1212296" cy="4041304"/>
          </a:xfrm>
          <a:prstGeom prst="rightBrace">
            <a:avLst>
              <a:gd name="adj1" fmla="val 8333"/>
              <a:gd name="adj2" fmla="val 50011"/>
            </a:avLst>
          </a:prstGeom>
          <a:ln w="76200" cap="rnd">
            <a:gradFill>
              <a:gsLst>
                <a:gs pos="0">
                  <a:schemeClr val="accent1">
                    <a:hueOff val="-4200000"/>
                  </a:schemeClr>
                </a:gs>
                <a:gs pos="9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705"/>
          </a:p>
        </p:txBody>
      </p:sp>
      <p:sp>
        <p:nvSpPr>
          <p:cNvPr id="23" name="右大括号 22"/>
          <p:cNvSpPr/>
          <p:nvPr>
            <p:custDataLst>
              <p:tags r:id="rId17"/>
            </p:custDataLst>
          </p:nvPr>
        </p:nvSpPr>
        <p:spPr>
          <a:xfrm>
            <a:off x="13039109" y="1789482"/>
            <a:ext cx="1022434" cy="4041093"/>
          </a:xfrm>
          <a:prstGeom prst="rightBrace">
            <a:avLst>
              <a:gd name="adj1" fmla="val 8333"/>
              <a:gd name="adj2" fmla="val 50460"/>
            </a:avLst>
          </a:prstGeom>
          <a:ln w="76200" cap="rnd">
            <a:gradFill>
              <a:gsLst>
                <a:gs pos="0">
                  <a:schemeClr val="accent1">
                    <a:hueOff val="-4200000"/>
                  </a:schemeClr>
                </a:gs>
                <a:gs pos="9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705"/>
          </a:p>
        </p:txBody>
      </p:sp>
      <p:sp>
        <p:nvSpPr>
          <p:cNvPr id="24" name="圆角矩形 23"/>
          <p:cNvSpPr/>
          <p:nvPr/>
        </p:nvSpPr>
        <p:spPr>
          <a:xfrm>
            <a:off x="9597192" y="3160602"/>
            <a:ext cx="1424996" cy="1384936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5"/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9572667" y="3160602"/>
            <a:ext cx="1424996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705" b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</a:t>
            </a:r>
            <a:endParaRPr lang="en-US" altLang="zh-CN" sz="2705" b="1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705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</a:t>
            </a:r>
            <a:endParaRPr lang="en-US" altLang="zh-CN" sz="2705" b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705" b="1">
                <a:latin typeface="Arial" panose="020B0604020202020204" pitchFamily="34" charset="0"/>
                <a:cs typeface="Arial" panose="020B0604020202020204" pitchFamily="34" charset="0"/>
              </a:rPr>
              <a:t>HOLD</a:t>
            </a:r>
            <a:endParaRPr lang="en-US" altLang="zh-CN" sz="2705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0540752" y="3074242"/>
            <a:ext cx="1424996" cy="1384936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5"/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20540992" y="3117422"/>
            <a:ext cx="1424996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705" b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</a:t>
            </a:r>
            <a:endParaRPr lang="en-US" altLang="zh-CN" sz="2705" b="1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705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</a:t>
            </a:r>
            <a:endParaRPr lang="en-US" altLang="zh-CN" sz="2705" b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705" b="1">
                <a:latin typeface="Arial" panose="020B0604020202020204" pitchFamily="34" charset="0"/>
                <a:cs typeface="Arial" panose="020B0604020202020204" pitchFamily="34" charset="0"/>
              </a:rPr>
              <a:t>HOLD</a:t>
            </a:r>
            <a:endParaRPr lang="en-US" altLang="zh-CN" sz="2705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图片 28" descr="ChatGPT Image 2026年7月20日 17_09_50"/>
          <p:cNvPicPr>
            <a:picLocks noChangeAspect="1"/>
          </p:cNvPicPr>
          <p:nvPr/>
        </p:nvPicPr>
        <p:blipFill>
          <a:blip r:embed="rId20"/>
          <a:srcRect t="38215"/>
          <a:stretch>
            <a:fillRect/>
          </a:stretch>
        </p:blipFill>
        <p:spPr>
          <a:xfrm>
            <a:off x="5741035" y="2802255"/>
            <a:ext cx="3608070" cy="278638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1"/>
            </p:custDataLst>
          </p:nvPr>
        </p:nvSpPr>
        <p:spPr>
          <a:xfrm>
            <a:off x="6945630" y="4502785"/>
            <a:ext cx="2878455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705" b="1">
                <a:latin typeface="Comic Sans MS" panose="030F0702030302020204" charset="0"/>
                <a:cs typeface="Comic Sans MS" panose="030F0702030302020204" charset="0"/>
              </a:rPr>
              <a:t>Trading Agent</a:t>
            </a:r>
            <a:endParaRPr lang="en-US" altLang="zh-CN" sz="2705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8613140" y="3835400"/>
            <a:ext cx="801370" cy="0"/>
          </a:xfrm>
          <a:prstGeom prst="straightConnector1">
            <a:avLst/>
          </a:prstGeom>
          <a:ln w="73025" cap="rnd">
            <a:gradFill>
              <a:gsLst>
                <a:gs pos="5000">
                  <a:schemeClr val="accent1">
                    <a:lumMod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19593560" y="3792220"/>
            <a:ext cx="801370" cy="0"/>
          </a:xfrm>
          <a:prstGeom prst="straightConnector1">
            <a:avLst/>
          </a:prstGeom>
          <a:ln w="73025" cap="rnd"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图片 34" descr="5c783884-5873-4357-8fea-76418fa951cc"/>
          <p:cNvPicPr>
            <a:picLocks noChangeAspect="1"/>
          </p:cNvPicPr>
          <p:nvPr/>
        </p:nvPicPr>
        <p:blipFill>
          <a:blip r:embed="rId22">
            <a:lum bright="-12000"/>
          </a:blip>
          <a:stretch>
            <a:fillRect/>
          </a:stretch>
        </p:blipFill>
        <p:spPr>
          <a:xfrm>
            <a:off x="14138275" y="657860"/>
            <a:ext cx="5173980" cy="6654800"/>
          </a:xfrm>
          <a:prstGeom prst="rect">
            <a:avLst/>
          </a:prstGeom>
        </p:spPr>
      </p:pic>
      <p:sp>
        <p:nvSpPr>
          <p:cNvPr id="39" name="弧形 38"/>
          <p:cNvSpPr/>
          <p:nvPr/>
        </p:nvSpPr>
        <p:spPr>
          <a:xfrm rot="10800000">
            <a:off x="13999845" y="1609725"/>
            <a:ext cx="4632325" cy="1303020"/>
          </a:xfrm>
          <a:prstGeom prst="arc">
            <a:avLst>
              <a:gd name="adj1" fmla="val 16200000"/>
              <a:gd name="adj2" fmla="val 926492"/>
            </a:avLst>
          </a:prstGeom>
          <a:ln w="66675">
            <a:solidFill>
              <a:srgbClr val="7030A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弧形 39"/>
          <p:cNvSpPr/>
          <p:nvPr/>
        </p:nvSpPr>
        <p:spPr>
          <a:xfrm rot="21240000">
            <a:off x="15986125" y="1734820"/>
            <a:ext cx="3508375" cy="1158875"/>
          </a:xfrm>
          <a:prstGeom prst="arc">
            <a:avLst>
              <a:gd name="adj1" fmla="val 20363558"/>
              <a:gd name="adj2" fmla="val 9432880"/>
            </a:avLst>
          </a:prstGeom>
          <a:ln w="66675">
            <a:solidFill>
              <a:srgbClr val="7030A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弧形 40"/>
          <p:cNvSpPr/>
          <p:nvPr/>
        </p:nvSpPr>
        <p:spPr>
          <a:xfrm rot="10800000">
            <a:off x="13999845" y="3356610"/>
            <a:ext cx="4632325" cy="1303020"/>
          </a:xfrm>
          <a:prstGeom prst="arc">
            <a:avLst>
              <a:gd name="adj1" fmla="val 16200000"/>
              <a:gd name="adj2" fmla="val 926492"/>
            </a:avLst>
          </a:prstGeom>
          <a:ln w="66675">
            <a:solidFill>
              <a:schemeClr val="accent6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弧形 41"/>
          <p:cNvSpPr/>
          <p:nvPr/>
        </p:nvSpPr>
        <p:spPr>
          <a:xfrm rot="21240000">
            <a:off x="15988030" y="3441700"/>
            <a:ext cx="3354070" cy="1233170"/>
          </a:xfrm>
          <a:prstGeom prst="arc">
            <a:avLst>
              <a:gd name="adj1" fmla="val 20092561"/>
              <a:gd name="adj2" fmla="val 9432880"/>
            </a:avLst>
          </a:prstGeom>
          <a:ln w="66675">
            <a:solidFill>
              <a:schemeClr val="accent6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弧形 42"/>
          <p:cNvSpPr/>
          <p:nvPr/>
        </p:nvSpPr>
        <p:spPr>
          <a:xfrm rot="21240000">
            <a:off x="16183610" y="5453380"/>
            <a:ext cx="3354070" cy="1233170"/>
          </a:xfrm>
          <a:prstGeom prst="arc">
            <a:avLst>
              <a:gd name="adj1" fmla="val 20092561"/>
              <a:gd name="adj2" fmla="val 9432880"/>
            </a:avLst>
          </a:prstGeom>
          <a:ln w="666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弧形 43"/>
          <p:cNvSpPr/>
          <p:nvPr/>
        </p:nvSpPr>
        <p:spPr>
          <a:xfrm rot="10800000">
            <a:off x="13999845" y="5388610"/>
            <a:ext cx="4632325" cy="1303020"/>
          </a:xfrm>
          <a:prstGeom prst="arc">
            <a:avLst>
              <a:gd name="adj1" fmla="val 16200000"/>
              <a:gd name="adj2" fmla="val 926492"/>
            </a:avLst>
          </a:prstGeom>
          <a:ln w="666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23"/>
            </p:custDataLst>
          </p:nvPr>
        </p:nvSpPr>
        <p:spPr>
          <a:xfrm>
            <a:off x="19011900" y="1165860"/>
            <a:ext cx="2878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7030A0"/>
                </a:solidFill>
                <a:latin typeface="Comic Sans MS" panose="030F0702030302020204" charset="0"/>
                <a:cs typeface="Comic Sans MS" panose="030F0702030302020204" charset="0"/>
              </a:rPr>
              <a:t>Analyst </a:t>
            </a:r>
            <a:endParaRPr lang="en-US" altLang="zh-CN" sz="2000" b="1">
              <a:solidFill>
                <a:srgbClr val="7030A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2000" b="1">
                <a:solidFill>
                  <a:srgbClr val="7030A0"/>
                </a:solidFill>
                <a:latin typeface="Comic Sans MS" panose="030F0702030302020204" charset="0"/>
                <a:cs typeface="Comic Sans MS" panose="030F0702030302020204" charset="0"/>
              </a:rPr>
              <a:t>Evolution</a:t>
            </a:r>
            <a:endParaRPr lang="en-US" altLang="zh-CN" sz="2000" b="1">
              <a:solidFill>
                <a:srgbClr val="7030A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24"/>
            </p:custDataLst>
          </p:nvPr>
        </p:nvSpPr>
        <p:spPr>
          <a:xfrm>
            <a:off x="19011900" y="2912745"/>
            <a:ext cx="2878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Tactical</a:t>
            </a:r>
            <a:endParaRPr lang="en-US" altLang="zh-CN" sz="2000" b="1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Evolution</a:t>
            </a:r>
            <a:endParaRPr lang="en-US" altLang="zh-CN" sz="2000" b="1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25"/>
            </p:custDataLst>
          </p:nvPr>
        </p:nvSpPr>
        <p:spPr>
          <a:xfrm>
            <a:off x="19110325" y="4744720"/>
            <a:ext cx="2878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1"/>
                </a:solidFill>
                <a:latin typeface="Comic Sans MS" panose="030F0702030302020204" charset="0"/>
                <a:cs typeface="Comic Sans MS" panose="030F0702030302020204" charset="0"/>
              </a:rPr>
              <a:t>Strategic</a:t>
            </a:r>
            <a:endParaRPr lang="en-US" altLang="zh-CN" sz="2000" b="1">
              <a:solidFill>
                <a:schemeClr val="accent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2000" b="1">
                <a:solidFill>
                  <a:schemeClr val="accent1"/>
                </a:solidFill>
                <a:latin typeface="Comic Sans MS" panose="030F0702030302020204" charset="0"/>
                <a:cs typeface="Comic Sans MS" panose="030F0702030302020204" charset="0"/>
              </a:rPr>
              <a:t>Evolution</a:t>
            </a:r>
            <a:endParaRPr lang="en-US" altLang="zh-CN" sz="2000" b="1">
              <a:solidFill>
                <a:schemeClr val="accent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2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3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4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5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6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7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8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9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0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1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2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3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4.xml><?xml version="1.0" encoding="utf-8"?>
<p:tagLst xmlns:p="http://schemas.openxmlformats.org/presentationml/2006/main">
  <p:tag name="KSO_WM_DIAGRAM_VIRTUALLY_FRAME" val="{&quot;height&quot;:305.75,&quot;left&quot;:9.3,&quot;top&quot;:106.75,&quot;width&quot;:912.9031456694963}"/>
</p:tagLst>
</file>

<file path=ppt/tags/tag15.xml><?xml version="1.0" encoding="utf-8"?>
<p:tagLst xmlns:p="http://schemas.openxmlformats.org/presentationml/2006/main">
  <p:tag name="KSO_WM_DIAGRAM_VIRTUALLY_FRAME" val="{&quot;height&quot;:305.75,&quot;left&quot;:9.3,&quot;top&quot;:106.75,&quot;width&quot;:912.9031456694963}"/>
</p:tagLst>
</file>

<file path=ppt/tags/tag16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7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8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19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WPS 演示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Comic Sans MS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Jett</cp:lastModifiedBy>
  <cp:revision>16</cp:revision>
  <dcterms:created xsi:type="dcterms:W3CDTF">2023-08-09T12:44:00Z</dcterms:created>
  <dcterms:modified xsi:type="dcterms:W3CDTF">2026-07-21T06:10:39Z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2052-12.1.0.26885</vt:lpwstr>
  </property>
  <property fmtid="{D5CDD505-2E9C-101B-9397-08002B2CF9AE}" pid="3" name="ICV">
    <vt:lpwstr>5C596B211F57486C941DD61CE9EBEE61_12</vt:lpwstr>
  </property>
</Properties>
</file>