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49E"/>
    <a:srgbClr val="F5E0E2"/>
    <a:srgbClr val="BFDCE7"/>
    <a:srgbClr val="D5AFB3"/>
    <a:srgbClr val="E8D3D5"/>
    <a:srgbClr val="4C25B1"/>
    <a:srgbClr val="FD6500"/>
    <a:srgbClr val="851321"/>
    <a:srgbClr val="FCEBED"/>
    <a:srgbClr val="B29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5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0.png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tags" Target="../tags/tag4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圆角矩形 5"/>
          <p:cNvSpPr/>
          <p:nvPr/>
        </p:nvSpPr>
        <p:spPr>
          <a:xfrm>
            <a:off x="334645" y="2359660"/>
            <a:ext cx="11738610" cy="3745230"/>
          </a:xfrm>
          <a:prstGeom prst="roundRect">
            <a:avLst>
              <a:gd name="adj" fmla="val 5262"/>
            </a:avLst>
          </a:prstGeom>
          <a:ln w="9525" cap="rnd" cmpd="sng" algn="ctr">
            <a:solidFill>
              <a:schemeClr val="tx2"/>
            </a:solidFill>
            <a:prstDash val="solid"/>
            <a:round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298450" y="799465"/>
            <a:ext cx="27692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</a:rPr>
              <a:t>(a) Daily Control Loop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34645" y="2412365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</a:rPr>
              <a:t>(b) Three-layer Self-evolution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" y="1273175"/>
            <a:ext cx="315595" cy="3155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495" y="1273175"/>
            <a:ext cx="321945" cy="32194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925" y="1273175"/>
            <a:ext cx="315595" cy="3155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030" y="1246505"/>
            <a:ext cx="379095" cy="37909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92125" y="1625600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Market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85850" y="1624965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News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81150" y="1624965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Social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044700" y="1624965"/>
            <a:ext cx="10883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Fundamentals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759075" y="1519555"/>
            <a:ext cx="255905" cy="0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图片 34" descr="5c783884-5873-4357-8fea-76418fa951cc"/>
          <p:cNvPicPr>
            <a:picLocks noChangeAspect="1"/>
          </p:cNvPicPr>
          <p:nvPr/>
        </p:nvPicPr>
        <p:blipFill>
          <a:blip r:embed="rId7">
            <a:lum bright="-12000"/>
          </a:blip>
          <a:srcRect l="9880" t="10048" r="7806" b="66574"/>
          <a:stretch>
            <a:fillRect/>
          </a:stretch>
        </p:blipFill>
        <p:spPr>
          <a:xfrm>
            <a:off x="2966720" y="1158875"/>
            <a:ext cx="2294255" cy="8382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3141345" y="821055"/>
            <a:ext cx="21932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Parallel Analyst Agent T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eam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0" name="图片 29" descr="6fa9361d-f0bc-4baa-bd2e-bd6b8075c6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4650" y="799465"/>
            <a:ext cx="1002665" cy="1381760"/>
          </a:xfrm>
          <a:prstGeom prst="rect">
            <a:avLst/>
          </a:prstGeom>
        </p:spPr>
      </p:pic>
      <p:cxnSp>
        <p:nvCxnSpPr>
          <p:cNvPr id="31" name="直接箭头连接符 30"/>
          <p:cNvCxnSpPr/>
          <p:nvPr/>
        </p:nvCxnSpPr>
        <p:spPr>
          <a:xfrm>
            <a:off x="6524625" y="1576070"/>
            <a:ext cx="213995" cy="0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右大括号 31"/>
          <p:cNvSpPr/>
          <p:nvPr>
            <p:custDataLst>
              <p:tags r:id="rId9"/>
            </p:custDataLst>
          </p:nvPr>
        </p:nvSpPr>
        <p:spPr>
          <a:xfrm flipH="1">
            <a:off x="5258435" y="929005"/>
            <a:ext cx="210185" cy="1115060"/>
          </a:xfrm>
          <a:prstGeom prst="rightBrace">
            <a:avLst>
              <a:gd name="adj1" fmla="val 32628"/>
              <a:gd name="adj2" fmla="val 51097"/>
            </a:avLst>
          </a:prstGeom>
          <a:ln w="17780" cap="rnd">
            <a:solidFill>
              <a:schemeClr val="tx2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705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9229090" y="1508125"/>
            <a:ext cx="213995" cy="0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10535920" y="1520825"/>
            <a:ext cx="213995" cy="0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圆角矩形 41"/>
          <p:cNvSpPr/>
          <p:nvPr/>
        </p:nvSpPr>
        <p:spPr>
          <a:xfrm>
            <a:off x="543560" y="2881630"/>
            <a:ext cx="3560400" cy="3105150"/>
          </a:xfrm>
          <a:prstGeom prst="roundRect">
            <a:avLst>
              <a:gd name="adj" fmla="val 4519"/>
            </a:avLst>
          </a:prstGeom>
          <a:solidFill>
            <a:srgbClr val="B293E0">
              <a:alpha val="19000"/>
            </a:srgb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4454525" y="2881630"/>
            <a:ext cx="3560400" cy="3105150"/>
          </a:xfrm>
          <a:prstGeom prst="roundRect">
            <a:avLst>
              <a:gd name="adj" fmla="val 4295"/>
            </a:avLst>
          </a:prstGeom>
          <a:solidFill>
            <a:srgbClr val="EF949E">
              <a:alpha val="19000"/>
            </a:srgb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8328025" y="2881630"/>
            <a:ext cx="3560400" cy="3105150"/>
          </a:xfrm>
          <a:prstGeom prst="roundRect">
            <a:avLst>
              <a:gd name="adj" fmla="val 4519"/>
            </a:avLst>
          </a:prstGeom>
          <a:solidFill>
            <a:srgbClr val="BFDCE7">
              <a:alpha val="19000"/>
            </a:srgb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34645" y="759460"/>
            <a:ext cx="11737975" cy="1405890"/>
          </a:xfrm>
          <a:prstGeom prst="roundRect">
            <a:avLst>
              <a:gd name="adj" fmla="val 12375"/>
            </a:avLst>
          </a:prstGeom>
          <a:ln w="9525" cap="rnd" cmpd="sng" algn="ctr">
            <a:solidFill>
              <a:schemeClr val="tx2"/>
            </a:solidFill>
            <a:prstDash val="dash"/>
            <a:round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5" name="直接箭头连接符 54"/>
          <p:cNvCxnSpPr>
            <a:endCxn id="44" idx="0"/>
          </p:cNvCxnSpPr>
          <p:nvPr/>
        </p:nvCxnSpPr>
        <p:spPr>
          <a:xfrm flipH="1">
            <a:off x="6235065" y="2168525"/>
            <a:ext cx="3669030" cy="713105"/>
          </a:xfrm>
          <a:prstGeom prst="straightConnector1">
            <a:avLst/>
          </a:prstGeom>
          <a:ln w="25400" cap="rnd">
            <a:solidFill>
              <a:srgbClr val="EF949E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endCxn id="45" idx="0"/>
          </p:cNvCxnSpPr>
          <p:nvPr/>
        </p:nvCxnSpPr>
        <p:spPr>
          <a:xfrm>
            <a:off x="9957435" y="2186305"/>
            <a:ext cx="151130" cy="695325"/>
          </a:xfrm>
          <a:prstGeom prst="straightConnector1">
            <a:avLst/>
          </a:prstGeom>
          <a:ln w="25400" cap="rnd">
            <a:solidFill>
              <a:srgbClr val="00B0F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endCxn id="42" idx="0"/>
          </p:cNvCxnSpPr>
          <p:nvPr/>
        </p:nvCxnSpPr>
        <p:spPr>
          <a:xfrm flipH="1">
            <a:off x="2324100" y="2181225"/>
            <a:ext cx="5613400" cy="700405"/>
          </a:xfrm>
          <a:prstGeom prst="straightConnector1">
            <a:avLst/>
          </a:prstGeom>
          <a:ln w="25400" cap="flat">
            <a:solidFill>
              <a:srgbClr val="B293E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燕尾形 60"/>
          <p:cNvSpPr/>
          <p:nvPr/>
        </p:nvSpPr>
        <p:spPr>
          <a:xfrm>
            <a:off x="3922395" y="4123690"/>
            <a:ext cx="716915" cy="469900"/>
          </a:xfrm>
          <a:prstGeom prst="chevron">
            <a:avLst/>
          </a:prstGeom>
          <a:gradFill>
            <a:gsLst>
              <a:gs pos="0">
                <a:srgbClr val="B293E0"/>
              </a:gs>
              <a:gs pos="100000">
                <a:srgbClr val="FCEBE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燕尾形 61"/>
          <p:cNvSpPr/>
          <p:nvPr/>
        </p:nvSpPr>
        <p:spPr>
          <a:xfrm>
            <a:off x="7852410" y="4120515"/>
            <a:ext cx="690245" cy="469900"/>
          </a:xfrm>
          <a:prstGeom prst="chevron">
            <a:avLst/>
          </a:prstGeom>
          <a:gradFill>
            <a:gsLst>
              <a:gs pos="0">
                <a:srgbClr val="FCEBED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638810" y="2996565"/>
            <a:ext cx="21932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Analyst E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volution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638675" y="3014980"/>
            <a:ext cx="21932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Tacti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cal E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volution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601075" y="3014980"/>
            <a:ext cx="21932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trategic E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volution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V="1">
            <a:off x="720090" y="3303270"/>
            <a:ext cx="1071880" cy="4445"/>
          </a:xfrm>
          <a:prstGeom prst="line">
            <a:avLst/>
          </a:prstGeom>
          <a:ln w="12700" cap="flat" cmpd="sng" algn="ctr">
            <a:solidFill>
              <a:srgbClr val="B293E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4768850" y="3291840"/>
            <a:ext cx="1071880" cy="4445"/>
          </a:xfrm>
          <a:prstGeom prst="line">
            <a:avLst/>
          </a:prstGeom>
          <a:ln w="12700" cap="flat" cmpd="sng" algn="ctr">
            <a:solidFill>
              <a:srgbClr val="EF949E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8714740" y="3297555"/>
            <a:ext cx="1189355" cy="190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/>
        </p:nvSpPr>
        <p:spPr>
          <a:xfrm>
            <a:off x="2785110" y="2952750"/>
            <a:ext cx="1070610" cy="339090"/>
          </a:xfrm>
          <a:prstGeom prst="roundRect">
            <a:avLst>
              <a:gd name="adj" fmla="val 4519"/>
            </a:avLst>
          </a:prstGeom>
          <a:solidFill>
            <a:srgbClr val="B293E0">
              <a:alpha val="19000"/>
            </a:srgbClr>
          </a:solidFill>
          <a:ln w="12700" cmpd="sng">
            <a:solidFill>
              <a:srgbClr val="B293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2891155" y="2960370"/>
            <a:ext cx="9645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T → T+1</a:t>
            </a:r>
            <a:endParaRPr lang="en-US" altLang="zh-CN" sz="1400" b="1"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6663055" y="2960370"/>
            <a:ext cx="1070610" cy="339090"/>
          </a:xfrm>
          <a:prstGeom prst="roundRect">
            <a:avLst>
              <a:gd name="adj" fmla="val 4519"/>
            </a:avLst>
          </a:prstGeom>
          <a:solidFill>
            <a:srgbClr val="D5AFB3">
              <a:alpha val="19000"/>
            </a:srgbClr>
          </a:solidFill>
          <a:ln w="12700" cmpd="sng">
            <a:solidFill>
              <a:srgbClr val="EF949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6732905" y="2992755"/>
            <a:ext cx="9645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1 - 3 days</a:t>
            </a:r>
            <a:endParaRPr lang="en-US" altLang="zh-CN" sz="1400" b="1"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10509250" y="2949575"/>
            <a:ext cx="1070610" cy="339090"/>
          </a:xfrm>
          <a:prstGeom prst="roundRect">
            <a:avLst>
              <a:gd name="adj" fmla="val 4519"/>
            </a:avLst>
          </a:prstGeom>
          <a:solidFill>
            <a:schemeClr val="accent5">
              <a:lumMod val="60000"/>
              <a:lumOff val="40000"/>
              <a:alpha val="10000"/>
            </a:schemeClr>
          </a:solidFill>
          <a:ln w="127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0669270" y="2981960"/>
            <a:ext cx="9645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20 days</a:t>
            </a:r>
            <a:endParaRPr lang="en-US" altLang="zh-CN" sz="1400" b="1"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85" y="3588385"/>
            <a:ext cx="315595" cy="315595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85" y="4662170"/>
            <a:ext cx="321945" cy="321945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85" y="5188585"/>
            <a:ext cx="315595" cy="31559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" y="4117975"/>
            <a:ext cx="379095" cy="37909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584200" y="3878580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Market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56590" y="4943475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News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38810" y="5540375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Social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94665" y="4431665"/>
            <a:ext cx="10883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Fundamentals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3" name="右大括号 82"/>
          <p:cNvSpPr/>
          <p:nvPr>
            <p:custDataLst>
              <p:tags r:id="rId10"/>
            </p:custDataLst>
          </p:nvPr>
        </p:nvSpPr>
        <p:spPr>
          <a:xfrm rot="10800000" flipH="1">
            <a:off x="1321435" y="3736975"/>
            <a:ext cx="300355" cy="1716405"/>
          </a:xfrm>
          <a:prstGeom prst="rightBrace">
            <a:avLst>
              <a:gd name="adj1" fmla="val 32628"/>
              <a:gd name="adj2" fmla="val 51387"/>
            </a:avLst>
          </a:prstGeom>
          <a:ln w="17780" cap="rnd">
            <a:solidFill>
              <a:schemeClr val="tx2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705"/>
          </a:p>
        </p:txBody>
      </p:sp>
      <p:sp>
        <p:nvSpPr>
          <p:cNvPr id="84" name="圆角矩形 83"/>
          <p:cNvSpPr/>
          <p:nvPr/>
        </p:nvSpPr>
        <p:spPr>
          <a:xfrm>
            <a:off x="1726565" y="4019550"/>
            <a:ext cx="754380" cy="1289685"/>
          </a:xfrm>
          <a:prstGeom prst="roundRect">
            <a:avLst>
              <a:gd name="adj" fmla="val 4519"/>
            </a:avLst>
          </a:prstGeom>
          <a:solidFill>
            <a:srgbClr val="B293E0">
              <a:alpha val="0"/>
            </a:srgbClr>
          </a:solidFill>
          <a:ln w="12700" cmpd="sng">
            <a:solidFill>
              <a:schemeClr val="tx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1696085" y="4039235"/>
            <a:ext cx="814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MSFT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+1.3%</a:t>
            </a:r>
            <a:endParaRPr lang="en-US" altLang="zh-CN" sz="1600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9" name="直接连接符 88"/>
          <p:cNvCxnSpPr/>
          <p:nvPr/>
        </p:nvCxnSpPr>
        <p:spPr>
          <a:xfrm flipV="1">
            <a:off x="1830705" y="4946015"/>
            <a:ext cx="109220" cy="14287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1935480" y="4946015"/>
            <a:ext cx="205105" cy="635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V="1">
            <a:off x="2126615" y="4852035"/>
            <a:ext cx="240030" cy="163830"/>
          </a:xfrm>
          <a:prstGeom prst="line">
            <a:avLst/>
          </a:prstGeom>
          <a:ln w="25400">
            <a:solidFill>
              <a:srgbClr val="00B050"/>
            </a:solidFill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2618105" y="4554855"/>
            <a:ext cx="255905" cy="0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2691765" y="3956050"/>
            <a:ext cx="7651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latin typeface="Comic Sans MS" panose="030F0702030302020204" charset="0"/>
                <a:cs typeface="Comic Sans MS" panose="030F0702030302020204" charset="0"/>
              </a:rPr>
              <a:t>Market</a:t>
            </a:r>
            <a:endParaRPr lang="en-US" altLang="zh-CN" sz="9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691765" y="4597400"/>
            <a:ext cx="7651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latin typeface="Comic Sans MS" panose="030F0702030302020204" charset="0"/>
                <a:cs typeface="Comic Sans MS" panose="030F0702030302020204" charset="0"/>
              </a:rPr>
              <a:t>News</a:t>
            </a:r>
            <a:endParaRPr lang="en-US" altLang="zh-CN" sz="9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691765" y="5015865"/>
            <a:ext cx="7651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latin typeface="Comic Sans MS" panose="030F0702030302020204" charset="0"/>
                <a:cs typeface="Comic Sans MS" panose="030F0702030302020204" charset="0"/>
              </a:rPr>
              <a:t>Social</a:t>
            </a:r>
            <a:endParaRPr lang="en-US" altLang="zh-CN" sz="9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469515" y="4232910"/>
            <a:ext cx="98742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latin typeface="Comic Sans MS" panose="030F0702030302020204" charset="0"/>
                <a:cs typeface="Comic Sans MS" panose="030F0702030302020204" charset="0"/>
              </a:rPr>
              <a:t>Fundamentals</a:t>
            </a:r>
            <a:endParaRPr lang="en-US" altLang="zh-CN" sz="9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97" name="直接连接符 96"/>
          <p:cNvCxnSpPr/>
          <p:nvPr/>
        </p:nvCxnSpPr>
        <p:spPr>
          <a:xfrm>
            <a:off x="3540760" y="4027805"/>
            <a:ext cx="0" cy="120459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3540125" y="4047490"/>
            <a:ext cx="447040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3540125" y="4308475"/>
            <a:ext cx="293370" cy="76200"/>
          </a:xfrm>
          <a:prstGeom prst="rect">
            <a:avLst/>
          </a:prstGeom>
          <a:solidFill>
            <a:srgbClr val="FD65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3540125" y="4730115"/>
            <a:ext cx="204470" cy="7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3142615" y="5102860"/>
            <a:ext cx="398145" cy="87630"/>
          </a:xfrm>
          <a:prstGeom prst="rect">
            <a:avLst/>
          </a:prstGeom>
          <a:solidFill>
            <a:srgbClr val="4C25B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3221355" y="4500245"/>
            <a:ext cx="765175" cy="227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-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3294380" y="4561205"/>
            <a:ext cx="64262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3744595" y="4339590"/>
            <a:ext cx="7651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+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202940" y="5151120"/>
            <a:ext cx="100520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latin typeface="Comic Sans MS" panose="030F0702030302020204" charset="0"/>
                <a:cs typeface="Comic Sans MS" panose="030F0702030302020204" charset="0"/>
              </a:rPr>
              <a:t>   weight</a:t>
            </a:r>
            <a:endParaRPr lang="en-US" altLang="zh-CN" sz="9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8" name="弧形 107"/>
          <p:cNvSpPr/>
          <p:nvPr/>
        </p:nvSpPr>
        <p:spPr>
          <a:xfrm rot="17280000">
            <a:off x="1564640" y="3527425"/>
            <a:ext cx="1210310" cy="1439545"/>
          </a:xfrm>
          <a:prstGeom prst="arc">
            <a:avLst>
              <a:gd name="adj1" fmla="val 17118264"/>
              <a:gd name="adj2" fmla="val 2008725"/>
            </a:avLst>
          </a:prstGeom>
          <a:ln w="28575">
            <a:solidFill>
              <a:srgbClr val="7030A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弧形 108"/>
          <p:cNvSpPr/>
          <p:nvPr/>
        </p:nvSpPr>
        <p:spPr>
          <a:xfrm rot="6480000">
            <a:off x="1455420" y="4311015"/>
            <a:ext cx="1210310" cy="1439545"/>
          </a:xfrm>
          <a:prstGeom prst="arc">
            <a:avLst>
              <a:gd name="adj1" fmla="val 17118264"/>
              <a:gd name="adj2" fmla="val 2008725"/>
            </a:avLst>
          </a:prstGeom>
          <a:ln w="28575">
            <a:solidFill>
              <a:srgbClr val="7030A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圆角矩形 110"/>
          <p:cNvSpPr/>
          <p:nvPr/>
        </p:nvSpPr>
        <p:spPr>
          <a:xfrm>
            <a:off x="4732655" y="3970020"/>
            <a:ext cx="754380" cy="1555750"/>
          </a:xfrm>
          <a:prstGeom prst="roundRect">
            <a:avLst>
              <a:gd name="adj" fmla="val 4519"/>
            </a:avLst>
          </a:prstGeom>
          <a:solidFill>
            <a:srgbClr val="D5AFB3">
              <a:alpha val="15000"/>
            </a:srgbClr>
          </a:solidFill>
          <a:ln w="12700" cmpd="sng">
            <a:solidFill>
              <a:schemeClr val="tx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圆角矩形 111"/>
          <p:cNvSpPr/>
          <p:nvPr/>
        </p:nvSpPr>
        <p:spPr>
          <a:xfrm>
            <a:off x="7019925" y="3977640"/>
            <a:ext cx="754380" cy="1555750"/>
          </a:xfrm>
          <a:prstGeom prst="roundRect">
            <a:avLst>
              <a:gd name="adj" fmla="val 4519"/>
            </a:avLst>
          </a:prstGeom>
          <a:solidFill>
            <a:srgbClr val="D5AFB3">
              <a:alpha val="15000"/>
            </a:srgbClr>
          </a:solidFill>
          <a:ln w="12700" cmpd="sng">
            <a:solidFill>
              <a:schemeClr val="tx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圆角矩形 112"/>
          <p:cNvSpPr/>
          <p:nvPr/>
        </p:nvSpPr>
        <p:spPr>
          <a:xfrm>
            <a:off x="5848985" y="4627880"/>
            <a:ext cx="814070" cy="446405"/>
          </a:xfrm>
          <a:prstGeom prst="roundRect">
            <a:avLst>
              <a:gd name="adj" fmla="val 4519"/>
            </a:avLst>
          </a:prstGeom>
          <a:solidFill>
            <a:srgbClr val="B293E0">
              <a:alpha val="0"/>
            </a:srgbClr>
          </a:solidFill>
          <a:ln w="12700" cmpd="sng">
            <a:solidFill>
              <a:schemeClr val="tx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5" name="直接箭头连接符 114"/>
          <p:cNvCxnSpPr/>
          <p:nvPr/>
        </p:nvCxnSpPr>
        <p:spPr>
          <a:xfrm flipV="1">
            <a:off x="6720840" y="4810125"/>
            <a:ext cx="290195" cy="4445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>
          <a:xfrm>
            <a:off x="4808855" y="3674745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Before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7150100" y="3682365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After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7710" y="5140960"/>
            <a:ext cx="370205" cy="396875"/>
          </a:xfrm>
          <a:prstGeom prst="rect">
            <a:avLst/>
          </a:prstGeom>
        </p:spPr>
      </p:pic>
      <p:sp>
        <p:nvSpPr>
          <p:cNvPr id="123" name="文本框 122"/>
          <p:cNvSpPr txBox="1"/>
          <p:nvPr/>
        </p:nvSpPr>
        <p:spPr>
          <a:xfrm>
            <a:off x="5960745" y="5133975"/>
            <a:ext cx="857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TTL 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expired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768850" y="4043680"/>
            <a:ext cx="765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Equity exposure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7094220" y="4051300"/>
            <a:ext cx="765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Equity exposure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0" name="左右箭头 129"/>
          <p:cNvSpPr/>
          <p:nvPr/>
        </p:nvSpPr>
        <p:spPr>
          <a:xfrm>
            <a:off x="4871720" y="4598035"/>
            <a:ext cx="476250" cy="119380"/>
          </a:xfrm>
          <a:prstGeom prst="leftRightArrow">
            <a:avLst/>
          </a:prstGeom>
          <a:solidFill>
            <a:srgbClr val="EF949E">
              <a:alpha val="14000"/>
            </a:srgbClr>
          </a:solidFill>
          <a:ln>
            <a:solidFill>
              <a:srgbClr val="EF949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左右箭头 130"/>
          <p:cNvSpPr/>
          <p:nvPr/>
        </p:nvSpPr>
        <p:spPr>
          <a:xfrm>
            <a:off x="7158990" y="4605655"/>
            <a:ext cx="476250" cy="119380"/>
          </a:xfrm>
          <a:prstGeom prst="leftRightArrow">
            <a:avLst/>
          </a:prstGeom>
          <a:solidFill>
            <a:srgbClr val="EF949E">
              <a:alpha val="14000"/>
            </a:srgbClr>
          </a:solidFill>
          <a:ln>
            <a:solidFill>
              <a:srgbClr val="EF949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4721860" y="4705985"/>
            <a:ext cx="852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Low    High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7019925" y="4705350"/>
            <a:ext cx="852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Low    High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5" name="右箭头 134"/>
          <p:cNvSpPr/>
          <p:nvPr/>
        </p:nvSpPr>
        <p:spPr>
          <a:xfrm>
            <a:off x="5193030" y="4620260"/>
            <a:ext cx="141605" cy="76200"/>
          </a:xfrm>
          <a:prstGeom prst="rightArrow">
            <a:avLst>
              <a:gd name="adj1" fmla="val 49579"/>
              <a:gd name="adj2" fmla="val 50000"/>
            </a:avLst>
          </a:prstGeom>
          <a:solidFill>
            <a:srgbClr val="EF949E"/>
          </a:solidFill>
          <a:ln>
            <a:solidFill>
              <a:srgbClr val="EF949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6" name="直接连接符 135"/>
          <p:cNvCxnSpPr/>
          <p:nvPr/>
        </p:nvCxnSpPr>
        <p:spPr>
          <a:xfrm>
            <a:off x="5193030" y="4566285"/>
            <a:ext cx="0" cy="186690"/>
          </a:xfrm>
          <a:prstGeom prst="line">
            <a:avLst/>
          </a:prstGeom>
          <a:ln>
            <a:solidFill>
              <a:srgbClr val="EF94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右箭头 136"/>
          <p:cNvSpPr/>
          <p:nvPr/>
        </p:nvSpPr>
        <p:spPr>
          <a:xfrm rot="10800000">
            <a:off x="7169150" y="4627880"/>
            <a:ext cx="104140" cy="76200"/>
          </a:xfrm>
          <a:prstGeom prst="rightArrow">
            <a:avLst>
              <a:gd name="adj1" fmla="val 49579"/>
              <a:gd name="adj2" fmla="val 50000"/>
            </a:avLst>
          </a:prstGeom>
          <a:solidFill>
            <a:srgbClr val="EF949E"/>
          </a:solidFill>
          <a:ln>
            <a:solidFill>
              <a:srgbClr val="EF949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8" name="直接连接符 137"/>
          <p:cNvCxnSpPr/>
          <p:nvPr/>
        </p:nvCxnSpPr>
        <p:spPr>
          <a:xfrm>
            <a:off x="7273290" y="4573905"/>
            <a:ext cx="0" cy="186690"/>
          </a:xfrm>
          <a:prstGeom prst="line">
            <a:avLst/>
          </a:prstGeom>
          <a:ln>
            <a:solidFill>
              <a:srgbClr val="EF94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4799330" y="4954905"/>
            <a:ext cx="655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AAPL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+4%</a:t>
            </a:r>
            <a:endParaRPr lang="en-US" altLang="zh-CN" sz="1200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7063740" y="4977765"/>
            <a:ext cx="655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AAPL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0%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5765800" y="4605655"/>
            <a:ext cx="974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AAPL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reduce-only</a:t>
            </a:r>
            <a:endParaRPr lang="en-US" altLang="zh-CN" sz="1200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8714740" y="3682365"/>
            <a:ext cx="11506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ea typeface="黑体" panose="02010600030101010101" charset="-122"/>
                <a:cs typeface="Comic Sans MS" panose="030F0702030302020204" charset="0"/>
              </a:rPr>
              <a:t>lookback</a:t>
            </a:r>
            <a:endParaRPr lang="en-US" altLang="zh-CN" sz="1000" b="1">
              <a:latin typeface="Comic Sans MS" panose="030F0702030302020204" charset="0"/>
              <a:ea typeface="黑体" panose="02010600030101010101" charset="-122"/>
              <a:cs typeface="Comic Sans MS" panose="030F0702030302020204" charset="0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8660765" y="3956050"/>
            <a:ext cx="726440" cy="295275"/>
          </a:xfrm>
          <a:prstGeom prst="roundRect">
            <a:avLst>
              <a:gd name="adj" fmla="val 4519"/>
            </a:avLst>
          </a:prstGeom>
          <a:solidFill>
            <a:schemeClr val="bg1">
              <a:lumMod val="95000"/>
              <a:alpha val="0"/>
            </a:schemeClr>
          </a:solidFill>
          <a:ln w="127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Episode 1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8660765" y="4323080"/>
            <a:ext cx="726440" cy="295275"/>
          </a:xfrm>
          <a:prstGeom prst="roundRect">
            <a:avLst>
              <a:gd name="adj" fmla="val 4519"/>
            </a:avLst>
          </a:prstGeom>
          <a:solidFill>
            <a:schemeClr val="bg1">
              <a:lumMod val="95000"/>
              <a:alpha val="0"/>
            </a:schemeClr>
          </a:solidFill>
          <a:ln w="127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Episode 2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0" name="圆角矩形 149"/>
          <p:cNvSpPr/>
          <p:nvPr/>
        </p:nvSpPr>
        <p:spPr>
          <a:xfrm>
            <a:off x="8660765" y="4665345"/>
            <a:ext cx="726440" cy="295275"/>
          </a:xfrm>
          <a:prstGeom prst="roundRect">
            <a:avLst>
              <a:gd name="adj" fmla="val 4519"/>
            </a:avLst>
          </a:prstGeom>
          <a:solidFill>
            <a:schemeClr val="bg1">
              <a:lumMod val="95000"/>
              <a:alpha val="0"/>
            </a:schemeClr>
          </a:solidFill>
          <a:ln w="127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Episode 3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8799830" y="4959350"/>
            <a:ext cx="448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chemeClr val="tx1"/>
                </a:solidFill>
              </a:rPr>
              <a:t>· · ·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cxnSp>
        <p:nvCxnSpPr>
          <p:cNvPr id="152" name="直接箭头连接符 151"/>
          <p:cNvCxnSpPr/>
          <p:nvPr/>
        </p:nvCxnSpPr>
        <p:spPr>
          <a:xfrm flipV="1">
            <a:off x="9581515" y="4384675"/>
            <a:ext cx="476885" cy="3810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4" name="文本框 153"/>
          <p:cNvSpPr txBox="1"/>
          <p:nvPr/>
        </p:nvSpPr>
        <p:spPr>
          <a:xfrm>
            <a:off x="10402570" y="3674745"/>
            <a:ext cx="11772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ea typeface="黑体" panose="02010600030101010101" charset="-122"/>
                <a:cs typeface="Comic Sans MS" panose="030F0702030302020204" charset="0"/>
              </a:rPr>
              <a:t>agentical </a:t>
            </a:r>
            <a:r>
              <a:rPr lang="en-US" altLang="zh-CN" sz="1000" b="1">
                <a:latin typeface="Comic Sans MS" panose="030F0702030302020204" charset="0"/>
                <a:ea typeface="黑体" panose="02010600030101010101" charset="-122"/>
                <a:cs typeface="Comic Sans MS" panose="030F0702030302020204" charset="0"/>
              </a:rPr>
              <a:t>review</a:t>
            </a:r>
            <a:endParaRPr lang="en-US" altLang="zh-CN" sz="1000" b="1">
              <a:latin typeface="Comic Sans MS" panose="030F0702030302020204" charset="0"/>
              <a:ea typeface="黑体" panose="02010600030101010101" charset="-122"/>
              <a:cs typeface="Comic Sans MS" panose="030F0702030302020204" charset="0"/>
            </a:endParaRPr>
          </a:p>
        </p:txBody>
      </p:sp>
      <p:pic>
        <p:nvPicPr>
          <p:cNvPr id="155" name="图片 154" descr="5c783884-5873-4357-8fea-76418fa951cc"/>
          <p:cNvPicPr>
            <a:picLocks noChangeAspect="1"/>
          </p:cNvPicPr>
          <p:nvPr/>
        </p:nvPicPr>
        <p:blipFill>
          <a:blip r:embed="rId7">
            <a:lum bright="-12000"/>
          </a:blip>
          <a:srcRect l="12077" t="42204" r="12175" b="39580"/>
          <a:stretch>
            <a:fillRect/>
          </a:stretch>
        </p:blipFill>
        <p:spPr>
          <a:xfrm>
            <a:off x="5511800" y="4076065"/>
            <a:ext cx="1508125" cy="466725"/>
          </a:xfrm>
          <a:prstGeom prst="rect">
            <a:avLst/>
          </a:prstGeom>
        </p:spPr>
      </p:pic>
      <p:pic>
        <p:nvPicPr>
          <p:cNvPr id="156" name="图片 155" descr="5c783884-5873-4357-8fea-76418fa951cc"/>
          <p:cNvPicPr>
            <a:picLocks noChangeAspect="1"/>
          </p:cNvPicPr>
          <p:nvPr/>
        </p:nvPicPr>
        <p:blipFill>
          <a:blip r:embed="rId7">
            <a:lum bright="-12000"/>
          </a:blip>
          <a:srcRect l="11843" t="61632" r="9229" b="8655"/>
          <a:stretch>
            <a:fillRect/>
          </a:stretch>
        </p:blipFill>
        <p:spPr>
          <a:xfrm>
            <a:off x="10177145" y="3919855"/>
            <a:ext cx="1536700" cy="744220"/>
          </a:xfrm>
          <a:prstGeom prst="rect">
            <a:avLst/>
          </a:prstGeom>
        </p:spPr>
      </p:pic>
      <p:cxnSp>
        <p:nvCxnSpPr>
          <p:cNvPr id="157" name="直接箭头连接符 156"/>
          <p:cNvCxnSpPr/>
          <p:nvPr/>
        </p:nvCxnSpPr>
        <p:spPr>
          <a:xfrm flipH="1">
            <a:off x="10463530" y="4764405"/>
            <a:ext cx="3175" cy="194945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 flipH="1">
            <a:off x="10843895" y="4622165"/>
            <a:ext cx="1270" cy="153670"/>
          </a:xfrm>
          <a:prstGeom prst="line">
            <a:avLst/>
          </a:prstGeom>
          <a:ln w="1778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 flipH="1">
            <a:off x="10466705" y="4763770"/>
            <a:ext cx="377190" cy="635"/>
          </a:xfrm>
          <a:prstGeom prst="line">
            <a:avLst/>
          </a:prstGeom>
          <a:ln w="1778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 flipH="1">
            <a:off x="10845165" y="4763135"/>
            <a:ext cx="377190" cy="635"/>
          </a:xfrm>
          <a:prstGeom prst="line">
            <a:avLst/>
          </a:prstGeom>
          <a:ln w="1778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 flipH="1">
            <a:off x="11212830" y="4764405"/>
            <a:ext cx="3175" cy="194945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2" name="圆角矩形 161"/>
          <p:cNvSpPr/>
          <p:nvPr/>
        </p:nvSpPr>
        <p:spPr>
          <a:xfrm>
            <a:off x="10058400" y="5015865"/>
            <a:ext cx="715010" cy="295275"/>
          </a:xfrm>
          <a:prstGeom prst="roundRect">
            <a:avLst>
              <a:gd name="adj" fmla="val 20430"/>
            </a:avLst>
          </a:prstGeom>
          <a:solidFill>
            <a:schemeClr val="accent4">
              <a:lumMod val="40000"/>
              <a:lumOff val="60000"/>
              <a:alpha val="70000"/>
            </a:schemeClr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00B050"/>
                </a:solidFill>
              </a:rPr>
              <a:t>Commit</a:t>
            </a:r>
            <a:endParaRPr lang="en-US" altLang="zh-CN" sz="1000" b="1">
              <a:solidFill>
                <a:srgbClr val="00B050"/>
              </a:solidFill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10956925" y="5015865"/>
            <a:ext cx="715010" cy="295275"/>
          </a:xfrm>
          <a:prstGeom prst="roundRect">
            <a:avLst>
              <a:gd name="adj" fmla="val 20430"/>
            </a:avLst>
          </a:prstGeom>
          <a:solidFill>
            <a:schemeClr val="accent6">
              <a:lumMod val="40000"/>
              <a:lumOff val="60000"/>
              <a:alpha val="70000"/>
            </a:schemeClr>
          </a:solidFill>
          <a:ln w="12700" cmpd="sng"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accent6"/>
                </a:solidFill>
              </a:rPr>
              <a:t>Rollback</a:t>
            </a:r>
            <a:endParaRPr lang="en-US" altLang="zh-CN" sz="1000" b="1">
              <a:solidFill>
                <a:schemeClr val="accent6"/>
              </a:solidFill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10604500" y="4752975"/>
            <a:ext cx="8578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TEST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5551170" y="4831080"/>
            <a:ext cx="290195" cy="4445"/>
          </a:xfrm>
          <a:prstGeom prst="straightConnector1">
            <a:avLst/>
          </a:prstGeom>
          <a:ln w="17780" cap="rnd">
            <a:solidFill>
              <a:schemeClr val="tx2"/>
            </a:solidFill>
            <a:round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弧形 6"/>
          <p:cNvSpPr/>
          <p:nvPr/>
        </p:nvSpPr>
        <p:spPr>
          <a:xfrm rot="17280000">
            <a:off x="5754370" y="3585210"/>
            <a:ext cx="1210310" cy="1439545"/>
          </a:xfrm>
          <a:prstGeom prst="arc">
            <a:avLst>
              <a:gd name="adj1" fmla="val 17118264"/>
              <a:gd name="adj2" fmla="val 2008725"/>
            </a:avLst>
          </a:prstGeom>
          <a:ln w="28575">
            <a:solidFill>
              <a:srgbClr val="EF949E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弧形 7"/>
          <p:cNvSpPr/>
          <p:nvPr/>
        </p:nvSpPr>
        <p:spPr>
          <a:xfrm rot="6480000">
            <a:off x="5608955" y="4361180"/>
            <a:ext cx="1210310" cy="1439545"/>
          </a:xfrm>
          <a:prstGeom prst="arc">
            <a:avLst>
              <a:gd name="adj1" fmla="val 17118264"/>
              <a:gd name="adj2" fmla="val 2008725"/>
            </a:avLst>
          </a:prstGeom>
          <a:ln w="28575">
            <a:solidFill>
              <a:srgbClr val="EF949E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弧形 12"/>
          <p:cNvSpPr/>
          <p:nvPr/>
        </p:nvSpPr>
        <p:spPr>
          <a:xfrm rot="17280000">
            <a:off x="9368790" y="3585210"/>
            <a:ext cx="1210310" cy="1439545"/>
          </a:xfrm>
          <a:prstGeom prst="arc">
            <a:avLst>
              <a:gd name="adj1" fmla="val 17118264"/>
              <a:gd name="adj2" fmla="val 2008725"/>
            </a:avLst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弧形 13"/>
          <p:cNvSpPr/>
          <p:nvPr/>
        </p:nvSpPr>
        <p:spPr>
          <a:xfrm rot="6480000">
            <a:off x="9265285" y="4311015"/>
            <a:ext cx="1210310" cy="1439545"/>
          </a:xfrm>
          <a:prstGeom prst="arc">
            <a:avLst>
              <a:gd name="adj1" fmla="val 17118264"/>
              <a:gd name="adj2" fmla="val 2008725"/>
            </a:avLst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818630" y="996950"/>
            <a:ext cx="63944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chemeClr val="accent1"/>
                </a:solidFill>
                <a:latin typeface="Comic Sans MS" panose="030F0702030302020204" charset="0"/>
                <a:cs typeface="Comic Sans MS" panose="030F0702030302020204" charset="0"/>
              </a:rPr>
              <a:t>Market</a:t>
            </a:r>
            <a:endParaRPr lang="en-US" altLang="zh-CN" sz="900" b="1">
              <a:solidFill>
                <a:schemeClr val="accent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11975" y="1563370"/>
            <a:ext cx="7651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chemeClr val="accent4"/>
                </a:solidFill>
                <a:latin typeface="Comic Sans MS" panose="030F0702030302020204" charset="0"/>
                <a:cs typeface="Comic Sans MS" panose="030F0702030302020204" charset="0"/>
              </a:rPr>
              <a:t>News</a:t>
            </a:r>
            <a:endParaRPr lang="en-US" altLang="zh-CN" sz="900" b="1">
              <a:solidFill>
                <a:schemeClr val="accent4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3400" y="1870710"/>
            <a:ext cx="7651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rgbClr val="7030A0"/>
                </a:solidFill>
                <a:latin typeface="Comic Sans MS" panose="030F0702030302020204" charset="0"/>
                <a:cs typeface="Comic Sans MS" panose="030F0702030302020204" charset="0"/>
              </a:rPr>
              <a:t>Social</a:t>
            </a:r>
            <a:endParaRPr lang="en-US" altLang="zh-CN" sz="900" b="1">
              <a:solidFill>
                <a:srgbClr val="7030A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7330440" y="1068705"/>
            <a:ext cx="5080" cy="103886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7335520" y="1088390"/>
            <a:ext cx="581660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335520" y="1349375"/>
            <a:ext cx="523240" cy="76200"/>
          </a:xfrm>
          <a:prstGeom prst="rect">
            <a:avLst/>
          </a:prstGeom>
          <a:solidFill>
            <a:srgbClr val="FD65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335520" y="1640205"/>
            <a:ext cx="238760" cy="7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7335520" y="1961515"/>
            <a:ext cx="483870" cy="85725"/>
          </a:xfrm>
          <a:prstGeom prst="rect">
            <a:avLst/>
          </a:prstGeom>
          <a:solidFill>
            <a:srgbClr val="4C25B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488430" y="1265555"/>
            <a:ext cx="10674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chemeClr val="accent2"/>
                </a:solidFill>
                <a:latin typeface="Comic Sans MS" panose="030F0702030302020204" charset="0"/>
                <a:cs typeface="Comic Sans MS" panose="030F0702030302020204" charset="0"/>
              </a:rPr>
              <a:t>Fundamentals</a:t>
            </a:r>
            <a:endParaRPr lang="en-US" altLang="zh-CN" sz="900" b="1">
              <a:solidFill>
                <a:schemeClr val="accent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789545" y="1870710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X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917180" y="1273175"/>
            <a:ext cx="76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Regime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7992745" y="1653540"/>
            <a:ext cx="1236345" cy="427990"/>
          </a:xfrm>
          <a:prstGeom prst="roundRect">
            <a:avLst>
              <a:gd name="adj" fmla="val 4519"/>
            </a:avLst>
          </a:prstGeom>
          <a:noFill/>
          <a:ln w="12700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7961630" y="1640205"/>
            <a:ext cx="138430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consensus:  </a:t>
            </a:r>
            <a:r>
              <a:rPr lang="en-US" altLang="zh-CN" sz="1200" b="1">
                <a:solidFill>
                  <a:schemeClr val="accent4">
                    <a:lumMod val="75000"/>
                  </a:schemeClr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BUY</a:t>
            </a:r>
            <a:endParaRPr lang="en-US" altLang="zh-CN" sz="1200">
              <a:solidFill>
                <a:schemeClr val="accent4"/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  <a:p>
            <a:r>
              <a:rPr lang="en-US" altLang="zh-CN" sz="1200"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convictions: </a:t>
            </a:r>
            <a:r>
              <a:rPr lang="en-US" altLang="zh-CN" sz="1200" b="1">
                <a:solidFill>
                  <a:schemeClr val="accent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57%</a:t>
            </a:r>
            <a:endParaRPr lang="en-US" altLang="zh-CN" sz="1200" b="1">
              <a:solidFill>
                <a:schemeClr val="accent1"/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7240" y="1115060"/>
            <a:ext cx="601345" cy="60134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9596120" y="808355"/>
            <a:ext cx="8337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Optimizer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989945" y="823595"/>
            <a:ext cx="8337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Ex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ecution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3256280" y="1042670"/>
            <a:ext cx="1726565" cy="10160"/>
          </a:xfrm>
          <a:prstGeom prst="line">
            <a:avLst/>
          </a:prstGeom>
          <a:ln w="12700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9663430" y="1038225"/>
            <a:ext cx="648335" cy="635"/>
          </a:xfrm>
          <a:prstGeom prst="line">
            <a:avLst/>
          </a:prstGeom>
          <a:ln w="12700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1118215" y="1062990"/>
            <a:ext cx="598170" cy="5715"/>
          </a:xfrm>
          <a:prstGeom prst="line">
            <a:avLst/>
          </a:prstGeom>
          <a:ln w="12700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圆角矩形 86"/>
          <p:cNvSpPr/>
          <p:nvPr/>
        </p:nvSpPr>
        <p:spPr>
          <a:xfrm>
            <a:off x="9566910" y="1530985"/>
            <a:ext cx="862965" cy="524510"/>
          </a:xfrm>
          <a:prstGeom prst="roundRect">
            <a:avLst>
              <a:gd name="adj" fmla="val 4519"/>
            </a:avLst>
          </a:prstGeom>
          <a:noFill/>
          <a:ln w="12700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圆角矩形 87"/>
          <p:cNvSpPr/>
          <p:nvPr/>
        </p:nvSpPr>
        <p:spPr>
          <a:xfrm>
            <a:off x="10989945" y="1531620"/>
            <a:ext cx="854710" cy="523240"/>
          </a:xfrm>
          <a:prstGeom prst="roundRect">
            <a:avLst>
              <a:gd name="adj" fmla="val 4519"/>
            </a:avLst>
          </a:prstGeom>
          <a:noFill/>
          <a:ln w="12700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7" name="直接连接符 106"/>
          <p:cNvCxnSpPr/>
          <p:nvPr/>
        </p:nvCxnSpPr>
        <p:spPr>
          <a:xfrm>
            <a:off x="9663430" y="1673225"/>
            <a:ext cx="694690" cy="63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9657715" y="1802130"/>
            <a:ext cx="708025" cy="381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9654540" y="1924685"/>
            <a:ext cx="708660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11071860" y="1673225"/>
            <a:ext cx="694690" cy="63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11066145" y="1802130"/>
            <a:ext cx="708025" cy="381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>
            <a:off x="11062970" y="1924685"/>
            <a:ext cx="708660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9566910" y="1485900"/>
            <a:ext cx="96901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 b="1">
                <a:solidFill>
                  <a:schemeClr val="tx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MSFT      </a:t>
            </a:r>
            <a:r>
              <a:rPr lang="en-US" altLang="zh-CN" sz="900" b="1">
                <a:solidFill>
                  <a:schemeClr val="accent4">
                    <a:lumMod val="75000"/>
                  </a:schemeClr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+6%</a:t>
            </a:r>
            <a:endParaRPr lang="en-US" altLang="zh-CN" sz="900" b="1">
              <a:solidFill>
                <a:schemeClr val="accent4">
                  <a:lumMod val="75000"/>
                </a:schemeClr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  <a:p>
            <a:r>
              <a:rPr lang="en-US" altLang="zh-CN" sz="900" b="1">
                <a:solidFill>
                  <a:schemeClr val="tx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AAPL       </a:t>
            </a:r>
            <a:r>
              <a:rPr lang="en-US" altLang="zh-CN" sz="900" b="1">
                <a:solidFill>
                  <a:schemeClr val="accent4">
                    <a:lumMod val="75000"/>
                  </a:schemeClr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+4%</a:t>
            </a:r>
            <a:endParaRPr lang="en-US" altLang="zh-CN" sz="900" b="1">
              <a:solidFill>
                <a:schemeClr val="tx1"/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  <a:p>
            <a:r>
              <a:rPr lang="en-US" altLang="zh-CN" sz="900" b="1">
                <a:solidFill>
                  <a:schemeClr val="tx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BA             </a:t>
            </a:r>
            <a:r>
              <a:rPr lang="en-US" altLang="zh-CN" sz="900" b="1">
                <a:solidFill>
                  <a:schemeClr val="accent6">
                    <a:lumMod val="75000"/>
                  </a:schemeClr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-3%</a:t>
            </a:r>
            <a:endParaRPr lang="en-US" altLang="zh-CN" sz="900" b="1">
              <a:solidFill>
                <a:schemeClr val="accent6">
                  <a:lumMod val="75000"/>
                </a:schemeClr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  <a:p>
            <a:endParaRPr lang="en-US" altLang="zh-CN" sz="1000">
              <a:solidFill>
                <a:schemeClr val="tx1"/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566910" y="1836420"/>
            <a:ext cx="3016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  <a:sym typeface="+mn-ea"/>
              </a:rPr>
              <a:t>…</a:t>
            </a:r>
            <a:endParaRPr lang="en-US" altLang="zh-CN" sz="1000">
              <a:latin typeface="Calisto MT" panose="02040603050505030304" charset="0"/>
              <a:ea typeface="黑体" panose="02010600030101010101" charset="-122"/>
              <a:cs typeface="Calisto MT" panose="02040603050505030304" charset="0"/>
              <a:sym typeface="+mn-ea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10989945" y="1485900"/>
            <a:ext cx="96901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 b="1">
                <a:solidFill>
                  <a:schemeClr val="accent4">
                    <a:lumMod val="75000"/>
                  </a:schemeClr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BUY     </a:t>
            </a:r>
            <a:r>
              <a:rPr lang="en-US" altLang="zh-CN" sz="900" b="1">
                <a:solidFill>
                  <a:schemeClr val="tx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MSFT</a:t>
            </a:r>
            <a:endParaRPr lang="en-US" altLang="zh-CN" sz="900" b="1">
              <a:solidFill>
                <a:schemeClr val="accent4">
                  <a:lumMod val="75000"/>
                </a:schemeClr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  <a:p>
            <a:r>
              <a:rPr lang="en-US" altLang="zh-CN" sz="900" b="1">
                <a:solidFill>
                  <a:schemeClr val="accent4">
                    <a:lumMod val="75000"/>
                  </a:schemeClr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  <a:sym typeface="+mn-ea"/>
              </a:rPr>
              <a:t>BUY</a:t>
            </a:r>
            <a:r>
              <a:rPr lang="en-US" altLang="zh-CN" sz="900" b="1">
                <a:solidFill>
                  <a:schemeClr val="tx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     </a:t>
            </a:r>
            <a:r>
              <a:rPr lang="en-US" altLang="zh-CN" sz="900" b="1">
                <a:solidFill>
                  <a:schemeClr val="tx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AAPL</a:t>
            </a:r>
            <a:endParaRPr lang="en-US" altLang="zh-CN" sz="900" b="1">
              <a:solidFill>
                <a:schemeClr val="tx1"/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  <a:p>
            <a:r>
              <a:rPr lang="en-US" altLang="zh-CN" sz="900" b="1">
                <a:solidFill>
                  <a:schemeClr val="accent6">
                    <a:lumMod val="75000"/>
                  </a:schemeClr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SELL       </a:t>
            </a:r>
            <a:r>
              <a:rPr lang="en-US" altLang="zh-CN" sz="900" b="1">
                <a:solidFill>
                  <a:schemeClr val="tx1"/>
                </a:solidFill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</a:rPr>
              <a:t> BA</a:t>
            </a:r>
            <a:endParaRPr lang="en-US" altLang="zh-CN" sz="900" b="1">
              <a:solidFill>
                <a:schemeClr val="accent6">
                  <a:lumMod val="75000"/>
                </a:schemeClr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  <a:p>
            <a:endParaRPr lang="en-US" altLang="zh-CN" sz="1000">
              <a:solidFill>
                <a:schemeClr val="tx1"/>
              </a:solidFill>
              <a:latin typeface="Calisto MT" panose="02040603050505030304" charset="0"/>
              <a:ea typeface="黑体" panose="02010600030101010101" charset="-122"/>
              <a:cs typeface="Calisto MT" panose="02040603050505030304" charset="0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10989945" y="1836420"/>
            <a:ext cx="3016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>
                <a:latin typeface="Calisto MT" panose="02040603050505030304" charset="0"/>
                <a:ea typeface="黑体" panose="02010600030101010101" charset="-122"/>
                <a:cs typeface="Calisto MT" panose="02040603050505030304" charset="0"/>
                <a:sym typeface="+mn-ea"/>
              </a:rPr>
              <a:t>…</a:t>
            </a:r>
            <a:endParaRPr lang="en-US" altLang="zh-CN" sz="1000">
              <a:latin typeface="Calisto MT" panose="02040603050505030304" charset="0"/>
              <a:ea typeface="黑体" panose="02010600030101010101" charset="-122"/>
              <a:cs typeface="Calisto MT" panose="02040603050505030304" charset="0"/>
              <a:sym typeface="+mn-ea"/>
            </a:endParaRPr>
          </a:p>
        </p:txBody>
      </p:sp>
      <p:pic>
        <p:nvPicPr>
          <p:cNvPr id="166" name="图片 16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4710" y="1075690"/>
            <a:ext cx="432435" cy="432435"/>
          </a:xfrm>
          <a:prstGeom prst="rect">
            <a:avLst/>
          </a:prstGeom>
        </p:spPr>
      </p:pic>
      <p:pic>
        <p:nvPicPr>
          <p:cNvPr id="168" name="图片 16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4250" y="1090930"/>
            <a:ext cx="464185" cy="464185"/>
          </a:xfrm>
          <a:prstGeom prst="rect">
            <a:avLst/>
          </a:prstGeom>
        </p:spPr>
      </p:pic>
      <p:sp>
        <p:nvSpPr>
          <p:cNvPr id="169" name="文本框 168"/>
          <p:cNvSpPr txBox="1"/>
          <p:nvPr/>
        </p:nvSpPr>
        <p:spPr>
          <a:xfrm>
            <a:off x="7512685" y="807720"/>
            <a:ext cx="15741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Role-weighted Fusion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 flipV="1">
            <a:off x="7613650" y="1043940"/>
            <a:ext cx="1353820" cy="3175"/>
          </a:xfrm>
          <a:prstGeom prst="line">
            <a:avLst/>
          </a:prstGeom>
          <a:ln w="12700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1071245" y="3427730"/>
            <a:ext cx="22853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Comic Sans MS" panose="030F0702030302020204" charset="0"/>
                <a:cs typeface="Comic Sans MS" panose="030F0702030302020204" charset="0"/>
              </a:rPr>
              <a:t>validate views with next-open returns</a:t>
            </a:r>
            <a:endParaRPr lang="en-US" altLang="zh-CN" sz="9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126490" y="5648960"/>
            <a:ext cx="22853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Comic Sans MS" panose="030F0702030302020204" charset="0"/>
                <a:cs typeface="Comic Sans MS" panose="030F0702030302020204" charset="0"/>
              </a:rPr>
              <a:t>update regime-specific role trust</a:t>
            </a:r>
            <a:endParaRPr lang="en-US" altLang="zh-CN" sz="9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5342255" y="5664835"/>
            <a:ext cx="22853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Comic Sans MS" panose="030F0702030302020204" charset="0"/>
                <a:cs typeface="Comic Sans MS" panose="030F0702030302020204" charset="0"/>
              </a:rPr>
              <a:t>reassess effects at TTL expiry</a:t>
            </a:r>
            <a:endParaRPr lang="en-US" altLang="zh-CN" sz="9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5448300" y="3478530"/>
            <a:ext cx="22853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Comic Sans MS" panose="030F0702030302020204" charset="0"/>
                <a:cs typeface="Comic Sans MS" panose="030F0702030302020204" charset="0"/>
              </a:rPr>
              <a:t>install short-lived risk guards</a:t>
            </a:r>
            <a:endParaRPr lang="en-US" altLang="zh-CN" sz="9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8660765" y="5664835"/>
            <a:ext cx="29641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Comic Sans MS" panose="030F0702030302020204" charset="0"/>
                <a:cs typeface="Comic Sans MS" panose="030F0702030302020204" charset="0"/>
              </a:rPr>
              <a:t>monitor market-relative alpha: commit or rollback</a:t>
            </a:r>
            <a:endParaRPr lang="en-US" altLang="zh-CN" sz="9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8682355" y="3452495"/>
            <a:ext cx="29641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Comic Sans MS" panose="030F0702030302020204" charset="0"/>
                <a:cs typeface="Comic Sans MS" panose="030F0702030302020204" charset="0"/>
              </a:rPr>
              <a:t>diagnose episodes and propose bounded policy edits</a:t>
            </a:r>
            <a:endParaRPr lang="en-US" altLang="zh-CN" sz="900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2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3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ags/tag4.xml><?xml version="1.0" encoding="utf-8"?>
<p:tagLst xmlns:p="http://schemas.openxmlformats.org/presentationml/2006/main">
  <p:tag name="KSO_WM_DIAGRAM_VIRTUALLY_FRAME" val="{&quot;height&quot;:463.5941497391086,&quot;left&quot;:9.3,&quot;top&quot;:24.80034031939249,&quot;width&quot;:1771.160871429543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演示</Application>
  <PresentationFormat>宽屏</PresentationFormat>
  <Paragraphs>141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Comic Sans MS</vt:lpstr>
      <vt:lpstr>Calisto MT</vt:lpstr>
      <vt:lpstr>黑体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Jett</cp:lastModifiedBy>
  <cp:revision>51</cp:revision>
  <dcterms:created xsi:type="dcterms:W3CDTF">2023-08-09T12:44:00Z</dcterms:created>
  <dcterms:modified xsi:type="dcterms:W3CDTF">2026-07-22T09:07:33Z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2052-12.1.0.26885</vt:lpwstr>
  </property>
  <property fmtid="{D5CDD505-2E9C-101B-9397-08002B2CF9AE}" pid="3" name="ICV">
    <vt:lpwstr>D0EE3DE02C2948DA97C301F6B68FF922_12</vt:lpwstr>
  </property>
</Properties>
</file>